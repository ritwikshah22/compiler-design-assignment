
<file path=[Content_Types].xml><?xml version="1.0" encoding="utf-8"?>
<Types xmlns="http://schemas.openxmlformats.org/package/2006/content-types">
  <Default Extension="png" ContentType="image/png"/>
  <Default Extension="PhpPresentationReaderPpt2007BkgbJflOO" ContentType="application/octet-stream"/>
  <Default Extension="PhpPresentationReaderPpt2007BkggAmfHP" ContentType="application/octet-stream"/>
  <Default Extension="rels" ContentType="application/vnd.openxmlformats-package.relationships+xml"/>
  <Default Extension="xml" ContentType="application/xml"/>
  <Default Extension="PhpPresentationReaderPpt2007BkgfnFMdO" ContentType="application/octet-stream"/>
  <Default Extension="PhpPresentationReaderPpt2007BkglGadAP" ContentType="application/octet-stream"/>
  <Default Extension="PhpPresentationReaderPpt2007BkgGpkphO" ContentType="application/octet-stream"/>
  <Default Extension="PhpPresentationReaderPpt2007BkgDejhDP" ContentType="application/octet-stream"/>
  <Default Extension="PhpPresentationReaderPpt2007BkgelcgfO" ContentType="application/octet-stream"/>
  <Default Extension="PhpPresentationReaderPpt2007BkgEFAFKP" ContentType="application/octet-stream"/>
  <Default Extension="PhpPresentationReaderPpt2007BkgPhjinO" ContentType="application/octet-stream"/>
  <Default Extension="PhpPresentationReaderPpt2007BkgePHBlO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78" r:id="rId3"/>
    <p:sldId id="271" r:id="rId4"/>
    <p:sldId id="258" r:id="rId5"/>
    <p:sldId id="259" r:id="rId6"/>
    <p:sldId id="261" r:id="rId7"/>
    <p:sldId id="270" r:id="rId8"/>
    <p:sldId id="262" r:id="rId9"/>
    <p:sldId id="263" r:id="rId10"/>
    <p:sldId id="281" r:id="rId11"/>
    <p:sldId id="272" r:id="rId12"/>
    <p:sldId id="277" r:id="rId13"/>
    <p:sldId id="273" r:id="rId14"/>
    <p:sldId id="274" r:id="rId15"/>
    <p:sldId id="282" r:id="rId16"/>
    <p:sldId id="283" r:id="rId17"/>
    <p:sldId id="284" r:id="rId18"/>
    <p:sldId id="268" r:id="rId19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>
        <p:scale>
          <a:sx n="100" d="100"/>
          <a:sy n="100" d="100"/>
        </p:scale>
        <p:origin x="-540" y="-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hpPresentationReaderPpt2007BkgbJflOO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hpPresentationReaderPpt2007BkgfnFMdO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hpPresentationReaderPpt2007BkgelcgfO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hpPresentationReaderPpt2007BkgGpkphO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hpPresentationReaderPpt2007BkgePHBlO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hpPresentationReaderPpt2007BkgPhjinO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hpPresentationReaderPpt2007BkglGadAP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hpPresentationReaderPpt2007BkgDejhDP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hpPresentationReaderPpt2007BkggAmfHP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hpPresentationReaderPpt2007BkgEFAFKP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hpPresentationReaderPpt2007BkgGpkphO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hpPresentationReaderPpt2007BkgPhjinO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AND_BOD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_3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_1_1_3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_ONLY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TLE_AND_DESCRIPTION_1_3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1_1_2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428910823" r:id="rId1"/>
    <p:sldLayoutId id="2428910824" r:id="rId2"/>
    <p:sldLayoutId id="2428910825" r:id="rId3"/>
    <p:sldLayoutId id="2428910826" r:id="rId4"/>
    <p:sldLayoutId id="2428910827" r:id="rId5"/>
    <p:sldLayoutId id="2428910828" r:id="rId6"/>
    <p:sldLayoutId id="2428910829" r:id="rId7"/>
    <p:sldLayoutId id="2428910830" r:id="rId8"/>
    <p:sldLayoutId id="2428910831" r:id="rId9"/>
    <p:sldLayoutId id="2428910832" r:id="rId10"/>
    <p:sldLayoutId id="2428910833" r:id="rId11"/>
    <p:sldLayoutId id="2428910834" r:id="rId12"/>
  </p:sldLayoutIdLst>
  <p:txStyles>
    <p:titleStyle>
      <a:defPPr algn="l">
        <a:defRPr kern="1200"/>
      </a:defPPr>
      <a:lvl1pPr algn="l">
        <a:defRPr sz="1400" kern="1200"/>
      </a:lvl1pPr>
      <a:lvl2pPr algn="l">
        <a:defRPr sz="1400" kern="1200"/>
      </a:lvl2pPr>
      <a:lvl3pPr algn="l">
        <a:defRPr sz="1400" kern="1200"/>
      </a:lvl3pPr>
      <a:lvl4pPr algn="l">
        <a:defRPr sz="1400" kern="1200"/>
      </a:lvl4pPr>
      <a:lvl5pPr algn="l">
        <a:defRPr sz="1400" kern="1200"/>
      </a:lvl5pPr>
      <a:lvl6pPr algn="l">
        <a:defRPr sz="1400" kern="1200"/>
      </a:lvl6pPr>
      <a:lvl7pPr algn="l">
        <a:defRPr sz="1400" kern="1200"/>
      </a:lvl7pPr>
      <a:lvl8pPr algn="l">
        <a:defRPr sz="1400" kern="1200"/>
      </a:lvl8pPr>
      <a:lvl9pPr algn="l">
        <a:defRPr sz="1400" kern="1200"/>
      </a:lvl9pPr>
      <a:extLst/>
    </p:titleStyle>
    <p:bodyStyle>
      <a:defPPr algn="l">
        <a:defRPr kern="1200"/>
      </a:defPPr>
      <a:lvl1pPr algn="l">
        <a:defRPr sz="1400" kern="1200"/>
      </a:lvl1pPr>
      <a:lvl2pPr algn="l">
        <a:defRPr sz="1400" kern="1200"/>
      </a:lvl2pPr>
      <a:lvl3pPr algn="l">
        <a:defRPr sz="1400" kern="1200"/>
      </a:lvl3pPr>
      <a:lvl4pPr algn="l">
        <a:defRPr sz="1400" kern="1200"/>
      </a:lvl4pPr>
      <a:lvl5pPr algn="l">
        <a:defRPr sz="1400" kern="1200"/>
      </a:lvl5pPr>
      <a:lvl6pPr algn="l">
        <a:defRPr sz="1400" kern="1200"/>
      </a:lvl6pPr>
      <a:lvl7pPr algn="l">
        <a:defRPr sz="1400" kern="1200"/>
      </a:lvl7pPr>
      <a:lvl8pPr algn="l">
        <a:defRPr sz="1400" kern="1200"/>
      </a:lvl8pPr>
      <a:lvl9pPr algn="l">
        <a:defRPr sz="1400" kern="1200"/>
      </a:lvl9pPr>
      <a:extLst/>
    </p:bodyStyle>
    <p:otherStyle>
      <a:defPPr algn="l">
        <a:defRPr kern="1200"/>
      </a:defPPr>
      <a:lvl1pPr algn="l">
        <a:defRPr sz="1400" kern="1200"/>
      </a:lvl1pPr>
      <a:lvl2pPr algn="l">
        <a:defRPr sz="1400" kern="1200"/>
      </a:lvl2pPr>
      <a:lvl3pPr algn="l">
        <a:defRPr sz="1400" kern="1200"/>
      </a:lvl3pPr>
      <a:lvl4pPr algn="l">
        <a:defRPr sz="1400" kern="1200"/>
      </a:lvl4pPr>
      <a:lvl5pPr algn="l">
        <a:defRPr sz="1400" kern="1200"/>
      </a:lvl5pPr>
      <a:lvl6pPr algn="l">
        <a:defRPr sz="1400" kern="1200"/>
      </a:lvl6pPr>
      <a:lvl7pPr algn="l">
        <a:defRPr sz="1400" kern="1200"/>
      </a:lvl7pPr>
      <a:lvl8pPr algn="l">
        <a:defRPr sz="1400" kern="1200"/>
      </a:lvl8pPr>
      <a:lvl9pPr algn="l">
        <a:defRPr sz="1400" kern="1200"/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5153025"/>
          <a:chOff x="914400" y="1028700"/>
          <a:chExt cx="8229600" cy="5153025"/>
        </a:xfrm>
      </p:grpSpPr>
      <p:sp>
        <p:nvSpPr>
          <p:cNvPr id="2" name="TextBox 1"/>
          <p:cNvSpPr txBox="1"/>
          <p:nvPr/>
        </p:nvSpPr>
        <p:spPr>
          <a:xfrm>
            <a:off x="304800" y="819150"/>
            <a:ext cx="8382000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lvl="0" algn="ctr" fontAlgn="t"/>
            <a:r>
              <a:rPr lang="en-US" sz="4000" b="1" dirty="0" smtClean="0">
                <a:solidFill>
                  <a:srgbClr val="FFAB40">
                    <a:alpha val="100000"/>
                  </a:srgbClr>
                </a:solidFill>
              </a:rPr>
              <a:t>Compiler Design</a:t>
            </a:r>
            <a:endParaRPr lang="en-US" sz="4000" b="1" dirty="0">
              <a:solidFill>
                <a:srgbClr val="FFAB40">
                  <a:alpha val="100000"/>
                </a:srgb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2419350"/>
            <a:ext cx="8839200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How Are Identifiers and Keywords Distinguished</a:t>
            </a:r>
            <a:endParaRPr lang="en-US" sz="2800" dirty="0">
              <a:solidFill>
                <a:schemeClr val="tx2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5153025"/>
          <a:chOff x="914400" y="1028700"/>
          <a:chExt cx="8229600" cy="5153025"/>
        </a:xfrm>
      </p:grpSpPr>
      <p:sp>
        <p:nvSpPr>
          <p:cNvPr id="2" name="TextBox 1"/>
          <p:cNvSpPr txBox="1"/>
          <p:nvPr/>
        </p:nvSpPr>
        <p:spPr>
          <a:xfrm>
            <a:off x="685800" y="552988"/>
            <a:ext cx="8382000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 sz="4000" b="1" dirty="0">
                <a:solidFill>
                  <a:srgbClr val="FFC000"/>
                </a:solidFill>
              </a:rPr>
              <a:t>Presentation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2190750"/>
            <a:ext cx="8839200" cy="160043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Introduction and Relevance Compiler </a:t>
            </a:r>
            <a:r>
              <a:rPr lang="en-US" sz="1400" dirty="0" smtClean="0">
                <a:solidFill>
                  <a:schemeClr val="bg1"/>
                </a:solidFill>
              </a:rPr>
              <a:t>Phases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bg1"/>
                </a:solidFill>
              </a:rPr>
              <a:t>Compiler </a:t>
            </a:r>
            <a:r>
              <a:rPr lang="en-US" sz="1400" dirty="0">
                <a:solidFill>
                  <a:schemeClr val="bg1"/>
                </a:solidFill>
              </a:rPr>
              <a:t>Phases Overview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Definitions: Keywords vs. </a:t>
            </a:r>
            <a:r>
              <a:rPr lang="en-US" sz="1400" dirty="0" smtClean="0">
                <a:solidFill>
                  <a:schemeClr val="bg1"/>
                </a:solidFill>
              </a:rPr>
              <a:t>Identifiers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Recognition Mechanisms (DFA, Tables</a:t>
            </a:r>
            <a:r>
              <a:rPr lang="en-US" sz="1400" dirty="0" smtClean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Key Differences and </a:t>
            </a:r>
            <a:r>
              <a:rPr lang="en-US" sz="1400" dirty="0" smtClean="0">
                <a:solidFill>
                  <a:schemeClr val="bg1"/>
                </a:solidFill>
              </a:rPr>
              <a:t>Rules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Examples, Errors, and Best Practices 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bg1"/>
                </a:solidFill>
              </a:rPr>
              <a:t>Conclusion </a:t>
            </a:r>
            <a:r>
              <a:rPr lang="en-US" sz="1400" dirty="0">
                <a:solidFill>
                  <a:schemeClr val="bg1"/>
                </a:solidFill>
              </a:rPr>
              <a:t>and References</a:t>
            </a:r>
          </a:p>
        </p:txBody>
      </p:sp>
    </p:spTree>
    <p:extLst>
      <p:ext uri="{BB962C8B-B14F-4D97-AF65-F5344CB8AC3E}">
        <p14:creationId xmlns:p14="http://schemas.microsoft.com/office/powerpoint/2010/main" val="119674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5153025"/>
          <a:chOff x="914400" y="1028700"/>
          <a:chExt cx="8229600" cy="5153025"/>
        </a:xfrm>
      </p:grpSpPr>
      <p:sp>
        <p:nvSpPr>
          <p:cNvPr id="2" name="TextBox 1"/>
          <p:cNvSpPr txBox="1"/>
          <p:nvPr/>
        </p:nvSpPr>
        <p:spPr>
          <a:xfrm>
            <a:off x="1676400" y="366980"/>
            <a:ext cx="5486400" cy="707886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algn="ctr" fontAlgn="t"/>
            <a:r>
              <a:rPr lang="en-US" sz="4000" dirty="0" smtClean="0">
                <a:solidFill>
                  <a:srgbClr val="FFC000"/>
                </a:solidFill>
              </a:rPr>
              <a:t>What Is a Compiler?</a:t>
            </a:r>
            <a:endParaRPr lang="en-US" sz="4000" b="1"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1362679"/>
            <a:ext cx="7315200" cy="3970318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System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Translates source code to machine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Performs analysis and error </a:t>
            </a:r>
            <a:r>
              <a:rPr lang="en-US" dirty="0" smtClean="0">
                <a:solidFill>
                  <a:schemeClr val="bg1"/>
                </a:solidFill>
              </a:rPr>
              <a:t>checking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Source code consists of tokens: keywords, identifiers, literals, operators, etc. 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Distinction </a:t>
            </a:r>
            <a:r>
              <a:rPr lang="en-US" dirty="0">
                <a:solidFill>
                  <a:schemeClr val="bg1"/>
                </a:solidFill>
              </a:rPr>
              <a:t>is the first step in compilation to produce a valid token </a:t>
            </a:r>
            <a:r>
              <a:rPr lang="en-US" dirty="0" smtClean="0">
                <a:solidFill>
                  <a:schemeClr val="bg1"/>
                </a:solidFill>
              </a:rPr>
              <a:t>stream.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Handled </a:t>
            </a:r>
            <a:r>
              <a:rPr lang="en-US" dirty="0">
                <a:solidFill>
                  <a:schemeClr val="bg1"/>
                </a:solidFill>
              </a:rPr>
              <a:t>entirely in the </a:t>
            </a:r>
            <a:r>
              <a:rPr lang="en-US" b="1" dirty="0">
                <a:solidFill>
                  <a:schemeClr val="bg1"/>
                </a:solidFill>
              </a:rPr>
              <a:t>lexical analysis phase</a:t>
            </a:r>
            <a:r>
              <a:rPr lang="en-US" dirty="0">
                <a:solidFill>
                  <a:schemeClr val="bg1"/>
                </a:solidFill>
              </a:rPr>
              <a:t> (scanner/</a:t>
            </a:r>
            <a:r>
              <a:rPr lang="en-US" dirty="0" err="1">
                <a:solidFill>
                  <a:schemeClr val="bg1"/>
                </a:solidFill>
              </a:rPr>
              <a:t>lexer</a:t>
            </a:r>
            <a:r>
              <a:rPr lang="en-US" dirty="0" smtClean="0">
                <a:solidFill>
                  <a:schemeClr val="bg1"/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3511403"/>
            <a:ext cx="2667000" cy="159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75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3629025"/>
          <a:chOff x="914400" y="1028700"/>
          <a:chExt cx="8229600" cy="3629025"/>
        </a:xfrm>
      </p:grpSpPr>
      <p:sp>
        <p:nvSpPr>
          <p:cNvPr id="2" name="TextBox 1"/>
          <p:cNvSpPr txBox="1"/>
          <p:nvPr/>
        </p:nvSpPr>
        <p:spPr>
          <a:xfrm>
            <a:off x="914400" y="81915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algn="ctr"/>
            <a:r>
              <a:rPr lang="en-US" sz="2800" dirty="0">
                <a:solidFill>
                  <a:srgbClr val="FFC000"/>
                </a:solidFill>
              </a:rPr>
              <a:t>Relevance in Compiler Design</a:t>
            </a:r>
            <a:endParaRPr lang="en-US" sz="2800" dirty="0">
              <a:solidFill>
                <a:srgbClr val="FFC000"/>
              </a:solidFill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9150" y="2275880"/>
            <a:ext cx="7315200" cy="92333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Why important? 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Enables </a:t>
            </a:r>
            <a:r>
              <a:rPr lang="en-US" dirty="0">
                <a:solidFill>
                  <a:schemeClr val="bg1"/>
                </a:solidFill>
              </a:rPr>
              <a:t>error-free parsing and subsequent phases.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3629025"/>
          <a:chOff x="914400" y="1028700"/>
          <a:chExt cx="8229600" cy="3629025"/>
        </a:xfrm>
      </p:grpSpPr>
      <p:sp>
        <p:nvSpPr>
          <p:cNvPr id="2" name="TextBox 1"/>
          <p:cNvSpPr txBox="1"/>
          <p:nvPr/>
        </p:nvSpPr>
        <p:spPr>
          <a:xfrm>
            <a:off x="228600" y="5715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algn="ctr"/>
            <a:r>
              <a:rPr lang="en-US" sz="2800" dirty="0">
                <a:solidFill>
                  <a:srgbClr val="FFC000"/>
                </a:solidFill>
              </a:rPr>
              <a:t>Compiler Phases Overview</a:t>
            </a:r>
            <a:endParaRPr lang="en-US" sz="2800" dirty="0">
              <a:solidFill>
                <a:srgbClr val="FFC000"/>
              </a:solidFill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420146"/>
            <a:ext cx="8153400" cy="34163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Main phases: Lexical Analysis → Syntax → Semantic → Intermediate Code → Optimization → Code Generation. 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Lexical </a:t>
            </a:r>
            <a:r>
              <a:rPr lang="en-US" dirty="0">
                <a:solidFill>
                  <a:schemeClr val="bg1"/>
                </a:solidFill>
              </a:rPr>
              <a:t>analyzer converts character stream to token stream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419350"/>
            <a:ext cx="5791200" cy="24171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4238625"/>
          <a:chOff x="914400" y="1028700"/>
          <a:chExt cx="8229600" cy="4238625"/>
        </a:xfrm>
      </p:grpSpPr>
      <p:sp>
        <p:nvSpPr>
          <p:cNvPr id="2" name="TextBox 1"/>
          <p:cNvSpPr txBox="1"/>
          <p:nvPr/>
        </p:nvSpPr>
        <p:spPr>
          <a:xfrm>
            <a:off x="838200" y="48643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algn="ctr"/>
            <a:r>
              <a:rPr lang="en-US" sz="2800" dirty="0">
                <a:solidFill>
                  <a:srgbClr val="FFC000"/>
                </a:solidFill>
              </a:rPr>
              <a:t>Lexical Analysis Phase (</a:t>
            </a:r>
            <a:r>
              <a:rPr lang="en-US" sz="2800" dirty="0" err="1">
                <a:solidFill>
                  <a:srgbClr val="FFC000"/>
                </a:solidFill>
              </a:rPr>
              <a:t>Lexer</a:t>
            </a:r>
            <a:r>
              <a:rPr lang="en-US" sz="2800" dirty="0">
                <a:solidFill>
                  <a:srgbClr val="FFC000"/>
                </a:solidFill>
              </a:rPr>
              <a:t>/Scanner)</a:t>
            </a:r>
            <a:endParaRPr lang="en-US" sz="2800" dirty="0">
              <a:solidFill>
                <a:srgbClr val="FFC000"/>
              </a:solidFill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0600" y="1123950"/>
            <a:ext cx="7315200" cy="1200329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Input: Source code characters. 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Output</a:t>
            </a:r>
            <a:r>
              <a:rPr lang="en-US" dirty="0">
                <a:solidFill>
                  <a:schemeClr val="bg1"/>
                </a:solidFill>
              </a:rPr>
              <a:t>: Tokens (type + lexeme). 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Removes </a:t>
            </a:r>
            <a:r>
              <a:rPr lang="en-US" dirty="0">
                <a:solidFill>
                  <a:schemeClr val="bg1"/>
                </a:solidFill>
              </a:rPr>
              <a:t>whitespace/comments. 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Uses </a:t>
            </a:r>
            <a:r>
              <a:rPr lang="en-US" dirty="0">
                <a:solidFill>
                  <a:schemeClr val="bg1"/>
                </a:solidFill>
              </a:rPr>
              <a:t>regular expressions and finite automata.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133350"/>
            <a:ext cx="4648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t"/>
            <a:r>
              <a:rPr lang="en-US" sz="2800" dirty="0" smtClean="0">
                <a:solidFill>
                  <a:srgbClr val="FFC000"/>
                </a:solidFill>
              </a:rPr>
              <a:t>Con…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742950"/>
            <a:ext cx="5791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sum = </a:t>
            </a:r>
            <a:r>
              <a:rPr lang="en-US" dirty="0" smtClean="0">
                <a:solidFill>
                  <a:schemeClr val="bg1"/>
                </a:solidFill>
              </a:rPr>
              <a:t>           a </a:t>
            </a:r>
            <a:r>
              <a:rPr lang="en-US" dirty="0">
                <a:solidFill>
                  <a:schemeClr val="bg1"/>
                </a:solidFill>
              </a:rPr>
              <a:t>+ </a:t>
            </a:r>
            <a:r>
              <a:rPr lang="en-US" dirty="0" smtClean="0">
                <a:solidFill>
                  <a:schemeClr val="bg1"/>
                </a:solidFill>
              </a:rPr>
              <a:t>b; // Comment Hi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060388"/>
              </p:ext>
            </p:extLst>
          </p:nvPr>
        </p:nvGraphicFramePr>
        <p:xfrm>
          <a:off x="1447800" y="1200150"/>
          <a:ext cx="3238500" cy="3718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500"/>
                <a:gridCol w="1079500"/>
                <a:gridCol w="1079500"/>
              </a:tblGrid>
              <a:tr h="17600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Lexeme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Token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Notes</a:t>
                      </a:r>
                    </a:p>
                  </a:txBody>
                  <a:tcPr anchor="ctr"/>
                </a:tc>
              </a:tr>
              <a:tr h="176007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Keyword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Reserved word</a:t>
                      </a:r>
                    </a:p>
                  </a:txBody>
                  <a:tcPr anchor="ctr"/>
                </a:tc>
              </a:tr>
              <a:tr h="176007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Identifier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Variable name</a:t>
                      </a:r>
                    </a:p>
                  </a:txBody>
                  <a:tcPr anchor="ctr"/>
                </a:tc>
              </a:tr>
              <a:tr h="176007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Assignment</a:t>
                      </a:r>
                    </a:p>
                  </a:txBody>
                  <a:tcPr anchor="ctr"/>
                </a:tc>
              </a:tr>
              <a:tr h="176007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Identifier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Variable name</a:t>
                      </a:r>
                    </a:p>
                  </a:txBody>
                  <a:tcPr anchor="ctr"/>
                </a:tc>
              </a:tr>
              <a:tr h="299211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Arithmetic (addition)</a:t>
                      </a:r>
                    </a:p>
                  </a:txBody>
                  <a:tcPr anchor="ctr"/>
                </a:tc>
              </a:tr>
              <a:tr h="176007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Identifier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Variable name</a:t>
                      </a:r>
                    </a:p>
                  </a:txBody>
                  <a:tcPr anchor="ctr"/>
                </a:tc>
              </a:tr>
              <a:tr h="299211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Punctuation/Separator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Statement terminator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28607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3629025"/>
          <a:chOff x="914400" y="1028700"/>
          <a:chExt cx="8229600" cy="3629025"/>
        </a:xfrm>
      </p:grpSpPr>
      <p:sp>
        <p:nvSpPr>
          <p:cNvPr id="2" name="TextBox 1"/>
          <p:cNvSpPr txBox="1"/>
          <p:nvPr/>
        </p:nvSpPr>
        <p:spPr>
          <a:xfrm>
            <a:off x="914400" y="102870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algn="ctr"/>
            <a:r>
              <a:rPr lang="en-US" sz="2800" dirty="0">
                <a:solidFill>
                  <a:srgbClr val="FFC000"/>
                </a:solidFill>
              </a:rPr>
              <a:t>What Are Keywords?</a:t>
            </a:r>
            <a:endParaRPr lang="en-US" sz="2800" dirty="0">
              <a:solidFill>
                <a:srgbClr val="FFC000"/>
              </a:solidFill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800225"/>
            <a:ext cx="7315200" cy="1323439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Reserved words with fixed meaning (e.g., if, while, </a:t>
            </a:r>
            <a:r>
              <a:rPr lang="en-US" sz="2000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, class). </a:t>
            </a:r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Hard-coded </a:t>
            </a:r>
            <a:r>
              <a:rPr lang="en-US" sz="2000" dirty="0">
                <a:solidFill>
                  <a:schemeClr val="bg1"/>
                </a:solidFill>
              </a:rPr>
              <a:t>in the </a:t>
            </a:r>
            <a:r>
              <a:rPr lang="en-US" sz="2000" dirty="0" err="1">
                <a:solidFill>
                  <a:schemeClr val="bg1"/>
                </a:solidFill>
              </a:rPr>
              <a:t>lexer</a:t>
            </a:r>
            <a:r>
              <a:rPr lang="en-US" sz="2000" dirty="0">
                <a:solidFill>
                  <a:schemeClr val="bg1"/>
                </a:solidFill>
              </a:rPr>
              <a:t> (keyword table/hash map). </a:t>
            </a:r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Classified </a:t>
            </a:r>
            <a:r>
              <a:rPr lang="en-US" sz="2000" dirty="0">
                <a:solidFill>
                  <a:schemeClr val="bg1"/>
                </a:solidFill>
              </a:rPr>
              <a:t>as specific token types (e.g., TOKEN_IF</a:t>
            </a:r>
            <a:r>
              <a:rPr lang="en-US" sz="2000" dirty="0" smtClean="0">
                <a:solidFill>
                  <a:schemeClr val="bg1"/>
                </a:solidFill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Cannot be used as identifiers.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3629025"/>
          <a:chOff x="914400" y="1028700"/>
          <a:chExt cx="8229600" cy="3629025"/>
        </a:xfrm>
      </p:grpSpPr>
      <p:sp>
        <p:nvSpPr>
          <p:cNvPr id="2" name="TextBox 1"/>
          <p:cNvSpPr txBox="1"/>
          <p:nvPr/>
        </p:nvSpPr>
        <p:spPr>
          <a:xfrm>
            <a:off x="914400" y="102870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US" sz="2800" dirty="0">
                <a:solidFill>
                  <a:srgbClr val="FFC000"/>
                </a:solidFill>
              </a:rPr>
              <a:t>What Are Identifiers?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1790700"/>
            <a:ext cx="7315200" cy="1200329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User-defined names for variables, functions, etc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Follow pattern: letter (or </a:t>
            </a:r>
            <a:r>
              <a:rPr lang="en-US" i="1" dirty="0">
                <a:solidFill>
                  <a:schemeClr val="bg1"/>
                </a:solidFill>
              </a:rPr>
              <a:t>) followed by letters/digits/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Classified </a:t>
            </a:r>
            <a:r>
              <a:rPr lang="en-US" dirty="0">
                <a:solidFill>
                  <a:schemeClr val="bg1"/>
                </a:solidFill>
              </a:rPr>
              <a:t>as generic IDENTIFIER token. 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Lexeme </a:t>
            </a:r>
            <a:r>
              <a:rPr lang="en-US" dirty="0">
                <a:solidFill>
                  <a:schemeClr val="bg1"/>
                </a:solidFill>
              </a:rPr>
              <a:t>inserted into </a:t>
            </a:r>
            <a:r>
              <a:rPr lang="en-US" b="1" dirty="0">
                <a:solidFill>
                  <a:schemeClr val="bg1"/>
                </a:solidFill>
              </a:rPr>
              <a:t>symbol table</a:t>
            </a:r>
            <a:r>
              <a:rPr lang="en-US" dirty="0">
                <a:solidFill>
                  <a:schemeClr val="bg1"/>
                </a:solidFill>
              </a:rPr>
              <a:t> for later phases.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3629025"/>
          <a:chOff x="914400" y="1028700"/>
          <a:chExt cx="8229600" cy="3629025"/>
        </a:xfrm>
      </p:grpSpPr>
      <p:sp>
        <p:nvSpPr>
          <p:cNvPr id="2" name="TextBox 1"/>
          <p:cNvSpPr txBox="1"/>
          <p:nvPr/>
        </p:nvSpPr>
        <p:spPr>
          <a:xfrm>
            <a:off x="990600" y="43815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Recognition Using Finite Automata</a:t>
            </a:r>
            <a:endParaRPr lang="en-US" sz="2800" dirty="0">
              <a:solidFill>
                <a:srgbClr val="FFC000"/>
              </a:solidFill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800" y="1008672"/>
            <a:ext cx="7315200" cy="53553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lIns="91440" tIns="45720" rIns="91440" bIns="45720" rtlCol="0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Lexer</a:t>
            </a:r>
            <a:r>
              <a:rPr lang="en-US" dirty="0">
                <a:solidFill>
                  <a:schemeClr val="bg1"/>
                </a:solidFill>
              </a:rPr>
              <a:t> implements DFA from regular expressions. 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Identifier </a:t>
            </a:r>
            <a:r>
              <a:rPr lang="en-US" dirty="0">
                <a:solidFill>
                  <a:schemeClr val="bg1"/>
                </a:solidFill>
              </a:rPr>
              <a:t>pattern: [a-</a:t>
            </a:r>
            <a:r>
              <a:rPr lang="en-US" dirty="0" err="1">
                <a:solidFill>
                  <a:schemeClr val="bg1"/>
                </a:solidFill>
              </a:rPr>
              <a:t>zA</a:t>
            </a:r>
            <a:r>
              <a:rPr lang="en-US" dirty="0">
                <a:solidFill>
                  <a:schemeClr val="bg1"/>
                </a:solidFill>
              </a:rPr>
              <a:t>-Z_][a-zA-Z0-9_]* 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Keywords</a:t>
            </a:r>
            <a:r>
              <a:rPr lang="en-US" dirty="0">
                <a:solidFill>
                  <a:schemeClr val="bg1"/>
                </a:solidFill>
              </a:rPr>
              <a:t>: Exact match priority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                                                                   </a:t>
            </a:r>
            <a:r>
              <a:rPr lang="en-US" u="sng" dirty="0" smtClean="0">
                <a:solidFill>
                  <a:schemeClr val="bg2"/>
                </a:solidFill>
              </a:rPr>
              <a:t>IDENTIFIER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                                                           </a:t>
            </a:r>
            <a:r>
              <a:rPr lang="en-US" dirty="0" err="1" smtClean="0">
                <a:solidFill>
                  <a:schemeClr val="bg1"/>
                </a:solidFill>
              </a:rPr>
              <a:t>fName</a:t>
            </a:r>
            <a:r>
              <a:rPr lang="en-US" dirty="0" smtClean="0">
                <a:solidFill>
                  <a:schemeClr val="bg1"/>
                </a:solidFill>
              </a:rPr>
              <a:t>; Right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                                                           9name; </a:t>
            </a:r>
            <a:r>
              <a:rPr lang="en-US" dirty="0" err="1" smtClean="0">
                <a:solidFill>
                  <a:schemeClr val="bg1"/>
                </a:solidFill>
              </a:rPr>
              <a:t>Erorr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                                                            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                                                                                    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                                                                                               </a:t>
            </a:r>
            <a:r>
              <a:rPr lang="en-US" u="sng" dirty="0" smtClean="0">
                <a:solidFill>
                  <a:schemeClr val="bg2"/>
                </a:solidFill>
              </a:rPr>
              <a:t>KEYWORD</a:t>
            </a:r>
            <a:endParaRPr lang="en-US" u="sng" dirty="0">
              <a:solidFill>
                <a:schemeClr val="bg2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 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                                                                                                 </a:t>
            </a:r>
            <a:r>
              <a:rPr lang="en-US" dirty="0" err="1" smtClean="0">
                <a:solidFill>
                  <a:schemeClr val="bg1"/>
                </a:solidFill>
              </a:rPr>
              <a:t>if,int</a:t>
            </a:r>
            <a:r>
              <a:rPr lang="en-US" dirty="0" smtClean="0">
                <a:solidFill>
                  <a:schemeClr val="bg1"/>
                </a:solidFill>
              </a:rPr>
              <a:t>….                                                                                            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                              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766" y="2781300"/>
            <a:ext cx="3301384" cy="18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31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5153025"/>
          <a:chOff x="914400" y="1028700"/>
          <a:chExt cx="8229600" cy="5153025"/>
        </a:xfrm>
      </p:grpSpPr>
      <p:sp>
        <p:nvSpPr>
          <p:cNvPr id="2" name="TextBox 1"/>
          <p:cNvSpPr txBox="1"/>
          <p:nvPr/>
        </p:nvSpPr>
        <p:spPr>
          <a:xfrm>
            <a:off x="1524000" y="366980"/>
            <a:ext cx="5486400" cy="707886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algn="ctr" fontAlgn="t"/>
            <a:r>
              <a:rPr lang="en-US" sz="4000" dirty="0">
                <a:solidFill>
                  <a:srgbClr val="FFC000"/>
                </a:solidFill>
              </a:rPr>
              <a:t>Keyword Table</a:t>
            </a:r>
            <a:endParaRPr lang="en-US" sz="4000" b="1" dirty="0">
              <a:solidFill>
                <a:srgbClr val="FFC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483754"/>
              </p:ext>
            </p:extLst>
          </p:nvPr>
        </p:nvGraphicFramePr>
        <p:xfrm>
          <a:off x="457200" y="1967547"/>
          <a:ext cx="8229600" cy="18592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Keyword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Token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KEYWORD_IF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Used for conditional execution (if statement)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KEYWORD_INT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Declares a variable of integer 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while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KEYWORD_WHILE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Used for loop execution as long as a condition is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93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5153025"/>
          <a:chOff x="914400" y="1028700"/>
          <a:chExt cx="8229600" cy="5153025"/>
        </a:xfrm>
      </p:grpSpPr>
      <p:sp>
        <p:nvSpPr>
          <p:cNvPr id="2" name="TextBox 1"/>
          <p:cNvSpPr txBox="1"/>
          <p:nvPr/>
        </p:nvSpPr>
        <p:spPr>
          <a:xfrm>
            <a:off x="1524000" y="366981"/>
            <a:ext cx="5791200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Distinction Process in </a:t>
            </a:r>
            <a:r>
              <a:rPr lang="en-US" sz="2800" b="1" dirty="0" err="1">
                <a:solidFill>
                  <a:srgbClr val="FFC000"/>
                </a:solidFill>
              </a:rPr>
              <a:t>Lexer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800225"/>
            <a:ext cx="7315200" cy="2308324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Algorithm: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>
                <a:solidFill>
                  <a:schemeClr val="bg1"/>
                </a:solidFill>
              </a:rPr>
              <a:t>1.Scan </a:t>
            </a:r>
            <a:r>
              <a:rPr lang="en-US" dirty="0">
                <a:solidFill>
                  <a:schemeClr val="bg1"/>
                </a:solidFill>
              </a:rPr>
              <a:t>characters, match longest lexeme.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2.If </a:t>
            </a:r>
            <a:r>
              <a:rPr lang="en-US" dirty="0">
                <a:solidFill>
                  <a:schemeClr val="bg1"/>
                </a:solidFill>
              </a:rPr>
              <a:t>matches identifier pattern: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Check against keyword table.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If match → Keyword token.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Else → Identifier token + add to symbol table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Example: "if" → Keyword; "</a:t>
            </a:r>
            <a:r>
              <a:rPr lang="en-US" dirty="0" err="1">
                <a:solidFill>
                  <a:schemeClr val="bg1"/>
                </a:solidFill>
              </a:rPr>
              <a:t>iff</a:t>
            </a:r>
            <a:r>
              <a:rPr lang="en-US" dirty="0">
                <a:solidFill>
                  <a:schemeClr val="bg1"/>
                </a:solidFill>
              </a:rPr>
              <a:t>" → Identifier.</a:t>
            </a:r>
          </a:p>
        </p:txBody>
      </p:sp>
    </p:spTree>
    <p:extLst>
      <p:ext uri="{BB962C8B-B14F-4D97-AF65-F5344CB8AC3E}">
        <p14:creationId xmlns:p14="http://schemas.microsoft.com/office/powerpoint/2010/main" val="314763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5153025"/>
          <a:chOff x="914400" y="1028700"/>
          <a:chExt cx="8229600" cy="5153025"/>
        </a:xfrm>
      </p:grpSpPr>
      <p:sp>
        <p:nvSpPr>
          <p:cNvPr id="2" name="TextBox 1"/>
          <p:cNvSpPr txBox="1"/>
          <p:nvPr/>
        </p:nvSpPr>
        <p:spPr>
          <a:xfrm>
            <a:off x="1524000" y="366981"/>
            <a:ext cx="6248400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Key Differences - Comparison 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111135"/>
              </p:ext>
            </p:extLst>
          </p:nvPr>
        </p:nvGraphicFramePr>
        <p:xfrm>
          <a:off x="457200" y="1982787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Keywords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Identifiers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Predefined/reserved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User-defined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Recognition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Exact match in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Pattern match + table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Token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Specific (e.g., IF, WHILE)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Generic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Symbol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Not inserted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Inserted with attributes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Control 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Name entities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19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5153025"/>
          <a:chOff x="914400" y="1028700"/>
          <a:chExt cx="8229600" cy="5153025"/>
        </a:xfrm>
      </p:grpSpPr>
      <p:sp>
        <p:nvSpPr>
          <p:cNvPr id="2" name="TextBox 1"/>
          <p:cNvSpPr txBox="1"/>
          <p:nvPr/>
        </p:nvSpPr>
        <p:spPr>
          <a:xfrm>
            <a:off x="1524000" y="366980"/>
            <a:ext cx="5486400" cy="707886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FFC000"/>
                </a:solidFill>
              </a:rPr>
              <a:t>Rules and Examples</a:t>
            </a:r>
            <a:endParaRPr lang="en-US" sz="4000" dirty="0">
              <a:solidFill>
                <a:srgbClr val="FFC000"/>
              </a:solidFill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0600" y="2343150"/>
            <a:ext cx="7315200" cy="1200329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Identifier rules: Regex [a-</a:t>
            </a:r>
            <a:r>
              <a:rPr lang="en-US" dirty="0" err="1">
                <a:solidFill>
                  <a:schemeClr val="bg1"/>
                </a:solidFill>
              </a:rPr>
              <a:t>zA</a:t>
            </a:r>
            <a:r>
              <a:rPr lang="en-US" dirty="0">
                <a:solidFill>
                  <a:schemeClr val="bg1"/>
                </a:solidFill>
              </a:rPr>
              <a:t>-Z_][a-zA-Z0-9_]* 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Code </a:t>
            </a:r>
            <a:r>
              <a:rPr lang="en-US" dirty="0">
                <a:solidFill>
                  <a:schemeClr val="bg1"/>
                </a:solidFill>
              </a:rPr>
              <a:t>examples: </a:t>
            </a:r>
            <a:endParaRPr lang="en-US" dirty="0" smtClean="0">
              <a:solidFill>
                <a:schemeClr val="bg1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bg1"/>
                </a:solidFill>
              </a:rPr>
              <a:t>Valid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count; (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= keyword, count = identifier)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Invalid: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= 5; (lexical error)</a:t>
            </a:r>
          </a:p>
        </p:txBody>
      </p:sp>
    </p:spTree>
    <p:extLst>
      <p:ext uri="{BB962C8B-B14F-4D97-AF65-F5344CB8AC3E}">
        <p14:creationId xmlns:p14="http://schemas.microsoft.com/office/powerpoint/2010/main" val="153900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5153025"/>
          <a:chOff x="914400" y="1028700"/>
          <a:chExt cx="8229600" cy="5153025"/>
        </a:xfrm>
      </p:grpSpPr>
      <p:sp>
        <p:nvSpPr>
          <p:cNvPr id="2" name="TextBox 1"/>
          <p:cNvSpPr txBox="1"/>
          <p:nvPr/>
        </p:nvSpPr>
        <p:spPr>
          <a:xfrm>
            <a:off x="1524000" y="366980"/>
            <a:ext cx="5638800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Common Errors and Handling</a:t>
            </a:r>
            <a:endParaRPr lang="en-US" sz="2000" dirty="0">
              <a:solidFill>
                <a:srgbClr val="FFC000"/>
              </a:solidFill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7250" y="1800225"/>
            <a:ext cx="7315200" cy="92333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Errors: Using keyword as identifier → Lexical error reported.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Longest </a:t>
            </a:r>
            <a:r>
              <a:rPr lang="en-US" dirty="0">
                <a:solidFill>
                  <a:schemeClr val="bg1"/>
                </a:solidFill>
              </a:rPr>
              <a:t>match rule prevents ambiguity.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In </a:t>
            </a:r>
            <a:r>
              <a:rPr lang="en-US" dirty="0">
                <a:solidFill>
                  <a:schemeClr val="bg1"/>
                </a:solidFill>
              </a:rPr>
              <a:t>tools like Flex: Automatic handling.</a:t>
            </a:r>
          </a:p>
        </p:txBody>
      </p:sp>
    </p:spTree>
    <p:extLst>
      <p:ext uri="{BB962C8B-B14F-4D97-AF65-F5344CB8AC3E}">
        <p14:creationId xmlns:p14="http://schemas.microsoft.com/office/powerpoint/2010/main" val="386397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5153025"/>
          <a:chOff x="914400" y="1028700"/>
          <a:chExt cx="8229600" cy="5153025"/>
        </a:xfrm>
      </p:grpSpPr>
      <p:sp>
        <p:nvSpPr>
          <p:cNvPr id="2" name="TextBox 1"/>
          <p:cNvSpPr txBox="1"/>
          <p:nvPr/>
        </p:nvSpPr>
        <p:spPr>
          <a:xfrm>
            <a:off x="1524000" y="366980"/>
            <a:ext cx="5486400" cy="707886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algn="ctr" fontAlgn="t"/>
            <a:r>
              <a:rPr lang="en-US" sz="4000" dirty="0" smtClean="0">
                <a:solidFill>
                  <a:srgbClr val="FFC000"/>
                </a:solidFill>
              </a:rPr>
              <a:t>Conclusion</a:t>
            </a:r>
            <a:endParaRPr lang="en-US" sz="4000" b="1"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7250" y="1800225"/>
            <a:ext cx="7315200" cy="1200329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</a:rPr>
              <a:t>Summary</a:t>
            </a:r>
            <a:r>
              <a:rPr lang="en-US" dirty="0">
                <a:solidFill>
                  <a:schemeClr val="bg1"/>
                </a:solidFill>
              </a:rPr>
              <a:t>: Distinction occurs in lexical phase via pattern matching (DFA), keyword lookup, and symbol table management. 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 smtClean="0">
                <a:solidFill>
                  <a:schemeClr val="bg1"/>
                </a:solidFill>
              </a:rPr>
              <a:t>Key </a:t>
            </a:r>
            <a:r>
              <a:rPr lang="en-US" b="1" dirty="0">
                <a:solidFill>
                  <a:schemeClr val="bg1"/>
                </a:solidFill>
              </a:rPr>
              <a:t>Takeaway</a:t>
            </a:r>
            <a:r>
              <a:rPr lang="en-US" dirty="0">
                <a:solidFill>
                  <a:schemeClr val="bg1"/>
                </a:solidFill>
              </a:rPr>
              <a:t>: Fundamental for correct tokenization and efficient compilation.</a:t>
            </a:r>
          </a:p>
        </p:txBody>
      </p:sp>
    </p:spTree>
    <p:extLst>
      <p:ext uri="{BB962C8B-B14F-4D97-AF65-F5344CB8AC3E}">
        <p14:creationId xmlns:p14="http://schemas.microsoft.com/office/powerpoint/2010/main" val="664341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5153025"/>
          <a:chOff x="914400" y="1028700"/>
          <a:chExt cx="8229600" cy="5153025"/>
        </a:xfrm>
      </p:grpSpPr>
      <p:sp>
        <p:nvSpPr>
          <p:cNvPr id="2" name="TextBox 1"/>
          <p:cNvSpPr txBox="1"/>
          <p:nvPr/>
        </p:nvSpPr>
        <p:spPr>
          <a:xfrm>
            <a:off x="1524000" y="366980"/>
            <a:ext cx="5486400" cy="707886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</a:rPr>
              <a:t>References</a:t>
            </a:r>
            <a:endParaRPr lang="en-US" sz="4000" dirty="0">
              <a:solidFill>
                <a:srgbClr val="FFC000"/>
              </a:solidFill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7250" y="1800225"/>
            <a:ext cx="7315200" cy="1200329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Alfred V. </a:t>
            </a:r>
            <a:r>
              <a:rPr lang="en-US" dirty="0" err="1">
                <a:solidFill>
                  <a:schemeClr val="bg1"/>
                </a:solidFill>
              </a:rPr>
              <a:t>Aho</a:t>
            </a:r>
            <a:r>
              <a:rPr lang="en-US" dirty="0">
                <a:solidFill>
                  <a:schemeClr val="bg1"/>
                </a:solidFill>
              </a:rPr>
              <a:t> et al., "Compilers: Principles, Techniques, and Tools" (Dragon Book), 2nd Edition. </a:t>
            </a: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>
                <a:solidFill>
                  <a:schemeClr val="bg1"/>
                </a:solidFill>
              </a:rPr>
              <a:t>GeeksforGeeks</a:t>
            </a:r>
            <a:r>
              <a:rPr lang="en-US" dirty="0">
                <a:solidFill>
                  <a:schemeClr val="bg1"/>
                </a:solidFill>
              </a:rPr>
              <a:t>: "Phases of Compiler" and "Lexical Analysis</a:t>
            </a:r>
            <a:r>
              <a:rPr lang="en-US" dirty="0" smtClean="0">
                <a:solidFill>
                  <a:schemeClr val="bg1"/>
                </a:solidFill>
              </a:rPr>
              <a:t>".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>
                <a:solidFill>
                  <a:schemeClr val="bg1"/>
                </a:solidFill>
              </a:rPr>
              <a:t>Tutorialspoint</a:t>
            </a:r>
            <a:r>
              <a:rPr lang="en-US" dirty="0">
                <a:solidFill>
                  <a:schemeClr val="bg1"/>
                </a:solidFill>
              </a:rPr>
              <a:t>: "Compiler Design - Symbol Table" and "Lexical Analysis".</a:t>
            </a:r>
          </a:p>
        </p:txBody>
      </p:sp>
    </p:spTree>
    <p:extLst>
      <p:ext uri="{BB962C8B-B14F-4D97-AF65-F5344CB8AC3E}">
        <p14:creationId xmlns:p14="http://schemas.microsoft.com/office/powerpoint/2010/main" val="201478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828800" y="1028700"/>
          <a:ext cx="7315200" cy="3581400"/>
          <a:chOff x="1828800" y="1028700"/>
          <a:chExt cx="7315200" cy="3581400"/>
        </a:xfrm>
      </p:grpSpPr>
      <p:sp>
        <p:nvSpPr>
          <p:cNvPr id="2" name="TextBox 1"/>
          <p:cNvSpPr txBox="1"/>
          <p:nvPr/>
        </p:nvSpPr>
        <p:spPr>
          <a:xfrm>
            <a:off x="1828800" y="1028700"/>
            <a:ext cx="54864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ctr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b="1" u="none" strike="noStrike" cap="none" spc="0" dirty="0">
                <a:solidFill>
                  <a:srgbClr val="FFFFFF">
                    <a:alpha val="100000"/>
                  </a:srgbClr>
                </a:solidFill>
                <a:latin typeface="Calibri"/>
              </a:rPr>
              <a:t>Thank you!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heme3">
  <a:themeElements>
    <a:clrScheme name="Theme3">
      <a:dk1>
        <a:sysClr val="windowText" lastClr="000000"/>
      </a:dk1>
      <a:lt1>
        <a:sysClr val="window" lastClr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Theme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648</Words>
  <Application>Microsoft Office PowerPoint</Application>
  <PresentationFormat>On-screen Show (16:9)</PresentationFormat>
  <Paragraphs>163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creator>Unknown Creator</dc:creator>
  <cp:lastModifiedBy>GETNET MIHRET</cp:lastModifiedBy>
  <cp:revision>54</cp:revision>
  <dcterms:created xsi:type="dcterms:W3CDTF">2025-02-18T16:02:30Z</dcterms:created>
  <dcterms:modified xsi:type="dcterms:W3CDTF">2026-01-04T15:21:55Z</dcterms:modified>
  <cp:contentStatus/>
</cp:coreProperties>
</file>